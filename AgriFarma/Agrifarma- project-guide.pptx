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74" r:id="rId9"/>
    <p:sldId id="275" r:id="rId10"/>
    <p:sldId id="276" r:id="rId11"/>
    <p:sldId id="277" r:id="rId12"/>
    <p:sldId id="278" r:id="rId13"/>
    <p:sldId id="265" r:id="rId14"/>
    <p:sldId id="266" r:id="rId15"/>
    <p:sldId id="28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3" d="100"/>
          <a:sy n="63" d="100"/>
        </p:scale>
        <p:origin x="102"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872440-B3E5-4FBE-B36F-9E86F67D188E}"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05993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72440-B3E5-4FBE-B36F-9E86F67D188E}"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74293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872440-B3E5-4FBE-B36F-9E86F67D188E}"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263937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2319619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872440-B3E5-4FBE-B36F-9E86F67D188E}"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04596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872440-B3E5-4FBE-B36F-9E86F67D188E}"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2292382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872440-B3E5-4FBE-B36F-9E86F67D188E}"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348268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308784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60282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2245454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517093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78551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872440-B3E5-4FBE-B36F-9E86F67D188E}"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2645040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0872440-B3E5-4FBE-B36F-9E86F67D188E}"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9057169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0872440-B3E5-4FBE-B36F-9E86F67D188E}"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1332833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72440-B3E5-4FBE-B36F-9E86F67D188E}"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3822032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872440-B3E5-4FBE-B36F-9E86F67D188E}"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66B3B3-51BC-42B9-833F-2BAB21F841B9}" type="slidenum">
              <a:rPr lang="en-US" smtClean="0"/>
              <a:t>‹#›</a:t>
            </a:fld>
            <a:endParaRPr lang="en-US"/>
          </a:p>
        </p:txBody>
      </p:sp>
    </p:spTree>
    <p:extLst>
      <p:ext uri="{BB962C8B-B14F-4D97-AF65-F5344CB8AC3E}">
        <p14:creationId xmlns:p14="http://schemas.microsoft.com/office/powerpoint/2010/main" val="65573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0872440-B3E5-4FBE-B36F-9E86F67D188E}" type="datetimeFigureOut">
              <a:rPr lang="en-US" smtClean="0"/>
              <a:t>11/4/2025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666B3B3-51BC-42B9-833F-2BAB21F841B9}" type="slidenum">
              <a:rPr lang="en-US" smtClean="0"/>
              <a:t>‹#›</a:t>
            </a:fld>
            <a:endParaRPr lang="en-US"/>
          </a:p>
        </p:txBody>
      </p:sp>
    </p:spTree>
    <p:extLst>
      <p:ext uri="{BB962C8B-B14F-4D97-AF65-F5344CB8AC3E}">
        <p14:creationId xmlns:p14="http://schemas.microsoft.com/office/powerpoint/2010/main" val="4200265182"/>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59" y="2249492"/>
            <a:ext cx="11471565" cy="1739347"/>
          </a:xfrm>
        </p:spPr>
        <p:txBody>
          <a:bodyPr/>
          <a:lstStyle/>
          <a:p>
            <a:r>
              <a:rPr lang="en-US" dirty="0" err="1"/>
              <a:t>AgriFarma</a:t>
            </a:r>
            <a:r>
              <a:rPr lang="en-US" dirty="0"/>
              <a:t> (FINAL PROJECT)</a:t>
            </a:r>
          </a:p>
        </p:txBody>
      </p:sp>
      <p:sp>
        <p:nvSpPr>
          <p:cNvPr id="3" name="Shape 139"/>
          <p:cNvSpPr txBox="1">
            <a:spLocks noGrp="1"/>
          </p:cNvSpPr>
          <p:nvPr/>
        </p:nvSpPr>
        <p:spPr>
          <a:xfrm>
            <a:off x="66675" y="122421"/>
            <a:ext cx="12030075" cy="1646301"/>
          </a:xfrm>
          <a:prstGeom prst="rect">
            <a:avLst/>
          </a:prstGeom>
          <a:noFill/>
          <a:ln>
            <a:noFill/>
          </a:ln>
        </p:spPr>
        <p:txBody>
          <a:bodyPr lIns="91425" tIns="45700" rIns="91425" bIns="45700" anchor="b" anchorCtr="0">
            <a:noAutofit/>
          </a:bodyPr>
          <a:lstStyle>
            <a:defPPr marR="0" algn="l" rtl="0">
              <a:lnSpc>
                <a:spcPct val="100000"/>
              </a:lnSpc>
              <a:spcBef>
                <a:spcPts val="0"/>
              </a:spcBef>
              <a:spcAft>
                <a:spcPts val="0"/>
              </a:spcAft>
            </a:defPPr>
            <a:lvl1pPr marL="0" marR="0" indent="0" algn="r" rtl="0">
              <a:lnSpc>
                <a:spcPct val="100000"/>
              </a:lnSpc>
              <a:spcBef>
                <a:spcPts val="0"/>
              </a:spcBef>
              <a:spcAft>
                <a:spcPts val="0"/>
              </a:spcAft>
              <a:buClr>
                <a:schemeClr val="accent1"/>
              </a:buClr>
              <a:buFont typeface="Trebuchet MS"/>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L="0" marR="0" indent="0" algn="l" rtl="0">
              <a:defRPr/>
            </a:lvl3pPr>
            <a:lvl4pPr marL="0" marR="0" indent="0" algn="l" rtl="0">
              <a:defRPr/>
            </a:lvl4pPr>
            <a:lvl5pPr marL="0" marR="0" indent="0" algn="l" rtl="0">
              <a:defRPr/>
            </a:lvl5pPr>
            <a:lvl6pPr marL="0" marR="0" indent="0" algn="l" rtl="0">
              <a:defRPr/>
            </a:lvl6pPr>
            <a:lvl7pPr marL="0" marR="0" indent="0" algn="l" rtl="0">
              <a:defRPr/>
            </a:lvl7pPr>
            <a:lvl8pPr marL="0" marR="0" indent="0" algn="l" rtl="0">
              <a:defRPr/>
            </a:lvl8pPr>
            <a:lvl9pPr marL="0" marR="0" indent="0" algn="l" rtl="0">
              <a:defRPr/>
            </a:lvl9pPr>
          </a:lstStyle>
          <a:p>
            <a:pPr lvl="0" algn="ctr">
              <a:buSzPct val="25000"/>
            </a:pPr>
            <a:r>
              <a:rPr lang="en-US" sz="5400" dirty="0">
                <a:solidFill>
                  <a:schemeClr val="tx1"/>
                </a:solidFill>
                <a:latin typeface="Trebuchet MS"/>
                <a:ea typeface="Trebuchet MS"/>
                <a:cs typeface="Trebuchet MS"/>
                <a:sym typeface="Trebuchet MS"/>
              </a:rPr>
              <a:t>Software Requirements Specification (SRS)</a:t>
            </a:r>
            <a:endParaRPr lang="en-US" sz="5400" b="0" i="0" u="none" strike="noStrike" cap="none" baseline="0" dirty="0">
              <a:solidFill>
                <a:schemeClr val="tx1"/>
              </a:solidFill>
              <a:latin typeface="Trebuchet MS"/>
              <a:ea typeface="Trebuchet MS"/>
              <a:cs typeface="Trebuchet MS"/>
              <a:sym typeface="Trebuchet MS"/>
            </a:endParaRPr>
          </a:p>
        </p:txBody>
      </p:sp>
    </p:spTree>
    <p:extLst>
      <p:ext uri="{BB962C8B-B14F-4D97-AF65-F5344CB8AC3E}">
        <p14:creationId xmlns:p14="http://schemas.microsoft.com/office/powerpoint/2010/main" val="1855722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Agrifarma</a:t>
            </a:r>
            <a:endParaRPr lang="en-US" dirty="0"/>
          </a:p>
        </p:txBody>
      </p:sp>
      <p:sp>
        <p:nvSpPr>
          <p:cNvPr id="3" name="Content Placeholder 2"/>
          <p:cNvSpPr>
            <a:spLocks noGrp="1"/>
          </p:cNvSpPr>
          <p:nvPr>
            <p:ph idx="1"/>
          </p:nvPr>
        </p:nvSpPr>
        <p:spPr>
          <a:xfrm>
            <a:off x="1202919" y="2459355"/>
            <a:ext cx="9579381" cy="2445154"/>
          </a:xfrm>
        </p:spPr>
        <p:txBody>
          <a:bodyPr>
            <a:normAutofit/>
          </a:bodyPr>
          <a:lstStyle/>
          <a:p>
            <a:pPr marL="0" indent="0">
              <a:buNone/>
            </a:pPr>
            <a:r>
              <a:rPr lang="en-US" sz="2400" b="1" dirty="0">
                <a:latin typeface="Arial" panose="020B0604020202020204" pitchFamily="34" charset="0"/>
                <a:ea typeface="Trebuchet MS"/>
                <a:cs typeface="Arial" panose="020B0604020202020204" pitchFamily="34" charset="0"/>
                <a:sym typeface="Trebuchet MS"/>
              </a:rPr>
              <a:t>Introduction:</a:t>
            </a:r>
            <a:endParaRPr lang="en-US" dirty="0"/>
          </a:p>
          <a:p>
            <a:pPr marL="0" indent="0">
              <a:buNone/>
            </a:pPr>
            <a:r>
              <a:rPr lang="en-US" dirty="0"/>
              <a:t>The purpose of this website is to help farmers in gaining knowledge, connecting with experts to improve their crops, sharing their success stories, buying agricultural items, and to sell their produce. This must be a responsive website optimized for viewing on desktops, mobiles and tablets.</a:t>
            </a:r>
          </a:p>
        </p:txBody>
      </p:sp>
    </p:spTree>
    <p:extLst>
      <p:ext uri="{BB962C8B-B14F-4D97-AF65-F5344CB8AC3E}">
        <p14:creationId xmlns:p14="http://schemas.microsoft.com/office/powerpoint/2010/main" val="3684895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User Profile</a:t>
            </a:r>
          </a:p>
        </p:txBody>
      </p:sp>
      <p:sp>
        <p:nvSpPr>
          <p:cNvPr id="3" name="Content Placeholder 2"/>
          <p:cNvSpPr>
            <a:spLocks noGrp="1"/>
          </p:cNvSpPr>
          <p:nvPr>
            <p:ph idx="1"/>
          </p:nvPr>
        </p:nvSpPr>
        <p:spPr>
          <a:xfrm>
            <a:off x="1202919" y="2430780"/>
            <a:ext cx="9331731" cy="2179320"/>
          </a:xfrm>
        </p:spPr>
        <p:txBody>
          <a:bodyPr/>
          <a:lstStyle/>
          <a:p>
            <a:pPr marL="0" indent="0">
              <a:buNone/>
            </a:pPr>
            <a:r>
              <a:rPr lang="en-US" dirty="0"/>
              <a:t>It must provide users to register an account by creating a profile. The profile must include name, email, mobile number, location (city, state, country), profession (farmer, academics, consultant, other), level of expertise (expert, intermediate, beginner), picture, etc. When displaying the profile, it must show the join date, number of posts, number of likes, links to latest posts made by user, etc. The user must be able to change or reset his password.</a:t>
            </a:r>
          </a:p>
        </p:txBody>
      </p:sp>
    </p:spTree>
    <p:extLst>
      <p:ext uri="{BB962C8B-B14F-4D97-AF65-F5344CB8AC3E}">
        <p14:creationId xmlns:p14="http://schemas.microsoft.com/office/powerpoint/2010/main" val="783837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Discussion Forum</a:t>
            </a:r>
          </a:p>
        </p:txBody>
      </p:sp>
      <p:sp>
        <p:nvSpPr>
          <p:cNvPr id="3" name="Content Placeholder 2"/>
          <p:cNvSpPr>
            <a:spLocks noGrp="1"/>
          </p:cNvSpPr>
          <p:nvPr>
            <p:ph idx="1"/>
          </p:nvPr>
        </p:nvSpPr>
        <p:spPr>
          <a:xfrm>
            <a:off x="1202919" y="2430780"/>
            <a:ext cx="9522231" cy="3169920"/>
          </a:xfrm>
        </p:spPr>
        <p:txBody>
          <a:bodyPr>
            <a:normAutofit lnSpcReduction="10000"/>
          </a:bodyPr>
          <a:lstStyle/>
          <a:p>
            <a:r>
              <a:rPr lang="en-US" dirty="0"/>
              <a:t>The admin must be able to create categories and sub-categories for discussion.</a:t>
            </a:r>
          </a:p>
          <a:p>
            <a:r>
              <a:rPr lang="en-US" dirty="0"/>
              <a:t>The user must be able to start a new discussion thread.</a:t>
            </a:r>
          </a:p>
          <a:p>
            <a:r>
              <a:rPr lang="en-US" dirty="0"/>
              <a:t>The user must be able to post on the selected categories or reply to any discussion thread.</a:t>
            </a:r>
          </a:p>
          <a:p>
            <a:r>
              <a:rPr lang="en-US" dirty="0"/>
              <a:t>The admin must be able to delete any inappropriate discussion thread or move it to another appropriate category.</a:t>
            </a:r>
          </a:p>
          <a:p>
            <a:r>
              <a:rPr lang="en-US" dirty="0"/>
              <a:t>The users must be able to search in the discussion forums.</a:t>
            </a:r>
          </a:p>
          <a:p>
            <a:r>
              <a:rPr lang="en-US" dirty="0"/>
              <a:t>Latest posts must be visible on sidebar section.</a:t>
            </a:r>
          </a:p>
        </p:txBody>
      </p:sp>
    </p:spTree>
    <p:extLst>
      <p:ext uri="{BB962C8B-B14F-4D97-AF65-F5344CB8AC3E}">
        <p14:creationId xmlns:p14="http://schemas.microsoft.com/office/powerpoint/2010/main" val="98582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Knowledge Base</a:t>
            </a:r>
          </a:p>
        </p:txBody>
      </p:sp>
      <p:sp>
        <p:nvSpPr>
          <p:cNvPr id="3" name="Content Placeholder 2"/>
          <p:cNvSpPr>
            <a:spLocks noGrp="1"/>
          </p:cNvSpPr>
          <p:nvPr>
            <p:ph idx="1"/>
          </p:nvPr>
        </p:nvSpPr>
        <p:spPr>
          <a:xfrm>
            <a:off x="1202919" y="2440305"/>
            <a:ext cx="9784080" cy="4206240"/>
          </a:xfrm>
        </p:spPr>
        <p:txBody>
          <a:bodyPr>
            <a:normAutofit/>
          </a:bodyPr>
          <a:lstStyle/>
          <a:p>
            <a:r>
              <a:rPr lang="en-US" dirty="0"/>
              <a:t>The admin must be able to create categories and sub-categories.</a:t>
            </a:r>
          </a:p>
          <a:p>
            <a:r>
              <a:rPr lang="en-US" dirty="0"/>
              <a:t>The user must be able to post a blog on a specific topic under the selected category.</a:t>
            </a:r>
          </a:p>
          <a:p>
            <a:r>
              <a:rPr lang="en-US" dirty="0"/>
              <a:t>The user must be able to include videos, audio, pictures, PowerPoint presentations, Word documents, etc. in the blog to illustrate the topic matter.</a:t>
            </a:r>
          </a:p>
          <a:p>
            <a:r>
              <a:rPr lang="en-US" dirty="0"/>
              <a:t>The user must be able to tag the blog as Farmer Experience, Success Stories, etc.</a:t>
            </a:r>
          </a:p>
          <a:p>
            <a:r>
              <a:rPr lang="en-US" dirty="0"/>
              <a:t>There must be an option for users to comment on the blog.</a:t>
            </a:r>
          </a:p>
          <a:p>
            <a:r>
              <a:rPr lang="en-US" dirty="0"/>
              <a:t>The admin must be able to delete any inappropriate posts or comments.</a:t>
            </a:r>
          </a:p>
          <a:p>
            <a:r>
              <a:rPr lang="en-US" dirty="0"/>
              <a:t>The users must be able to search in the knowledge base.</a:t>
            </a:r>
          </a:p>
          <a:p>
            <a:r>
              <a:rPr lang="en-US" dirty="0"/>
              <a:t>Latest posts must be visible on the sidebar section.</a:t>
            </a:r>
          </a:p>
        </p:txBody>
      </p:sp>
    </p:spTree>
    <p:extLst>
      <p:ext uri="{BB962C8B-B14F-4D97-AF65-F5344CB8AC3E}">
        <p14:creationId xmlns:p14="http://schemas.microsoft.com/office/powerpoint/2010/main" val="244801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Consultancy Services</a:t>
            </a:r>
          </a:p>
        </p:txBody>
      </p:sp>
      <p:sp>
        <p:nvSpPr>
          <p:cNvPr id="3" name="Content Placeholder 2"/>
          <p:cNvSpPr>
            <a:spLocks noGrp="1"/>
          </p:cNvSpPr>
          <p:nvPr>
            <p:ph idx="1"/>
          </p:nvPr>
        </p:nvSpPr>
        <p:spPr>
          <a:xfrm>
            <a:off x="1202919" y="2402205"/>
            <a:ext cx="9784080" cy="2207895"/>
          </a:xfrm>
        </p:spPr>
        <p:txBody>
          <a:bodyPr/>
          <a:lstStyle/>
          <a:p>
            <a:r>
              <a:rPr lang="en-US" dirty="0"/>
              <a:t>The admin must be able to create categories and sub-categories.</a:t>
            </a:r>
          </a:p>
          <a:p>
            <a:r>
              <a:rPr lang="en-US" dirty="0"/>
              <a:t>The user must be able to register as a consultant for providing expertise to other users on a voluntary basis.</a:t>
            </a:r>
          </a:p>
          <a:p>
            <a:r>
              <a:rPr lang="en-US" dirty="0"/>
              <a:t>The admin will review and approve the profile to appear on the website in the appropriate categories.</a:t>
            </a:r>
          </a:p>
        </p:txBody>
      </p:sp>
    </p:spTree>
    <p:extLst>
      <p:ext uri="{BB962C8B-B14F-4D97-AF65-F5344CB8AC3E}">
        <p14:creationId xmlns:p14="http://schemas.microsoft.com/office/powerpoint/2010/main" val="415007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56121" y="2238376"/>
            <a:ext cx="11877675" cy="4152900"/>
          </a:xfrm>
        </p:spPr>
        <p:txBody>
          <a:bodyPr/>
          <a:lstStyle/>
          <a:p>
            <a:r>
              <a:rPr lang="en-US" dirty="0"/>
              <a:t>The admin must be able to create categories and sub-categories.</a:t>
            </a:r>
          </a:p>
          <a:p>
            <a:r>
              <a:rPr lang="en-US" dirty="0"/>
              <a:t>The admin must be able to post items for sale under appropriate categories. The posts can include list of photos, product specifications, price, contact email for seller, etc.</a:t>
            </a:r>
          </a:p>
          <a:p>
            <a:r>
              <a:rPr lang="en-US" dirty="0"/>
              <a:t>The admin must be able to remove / inactivate posted items.</a:t>
            </a:r>
          </a:p>
          <a:p>
            <a:r>
              <a:rPr lang="en-US" dirty="0"/>
              <a:t>The users must be able to search in the online store.</a:t>
            </a:r>
          </a:p>
          <a:p>
            <a:r>
              <a:rPr lang="en-US" dirty="0"/>
              <a:t>The farmer must be able to post his produce for sale. He must be able to remove his post at any time.</a:t>
            </a:r>
          </a:p>
          <a:p>
            <a:r>
              <a:rPr lang="en-US" dirty="0"/>
              <a:t>The admin must be able to remove any inappropriate post.</a:t>
            </a:r>
          </a:p>
          <a:p>
            <a:r>
              <a:rPr lang="en-US" dirty="0"/>
              <a:t>The system must automatically remove any post older than a predefined number of days.</a:t>
            </a:r>
          </a:p>
          <a:p>
            <a:endParaRPr lang="en-US" dirty="0"/>
          </a:p>
        </p:txBody>
      </p:sp>
    </p:spTree>
    <p:extLst>
      <p:ext uri="{BB962C8B-B14F-4D97-AF65-F5344CB8AC3E}">
        <p14:creationId xmlns:p14="http://schemas.microsoft.com/office/powerpoint/2010/main" val="3135237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202919" y="2478405"/>
            <a:ext cx="9784080" cy="4208145"/>
          </a:xfrm>
        </p:spPr>
        <p:txBody>
          <a:bodyPr/>
          <a:lstStyle/>
          <a:p>
            <a:r>
              <a:rPr lang="en-US" dirty="0"/>
              <a:t>When it comes to e-commerce websites, it's all about functionality, features, and design.</a:t>
            </a:r>
          </a:p>
          <a:p>
            <a:r>
              <a:rPr lang="en-US" dirty="0"/>
              <a:t>This E-Commerce software application is used for online shopping, this software consist of web platform. Store owner/administrator should be able to add and remove products and view reporting about sell and order etc. Customer can view products and purchase from web.</a:t>
            </a:r>
          </a:p>
          <a:p>
            <a:r>
              <a:rPr lang="en-US" dirty="0"/>
              <a:t>Ability to select options such as featured, free shipping, reviews/comments allowed.</a:t>
            </a:r>
          </a:p>
          <a:p>
            <a:r>
              <a:rPr lang="en-US" dirty="0"/>
              <a:t>Add and manage main product image and additional product images.</a:t>
            </a:r>
          </a:p>
          <a:p>
            <a:r>
              <a:rPr lang="en-US" dirty="0"/>
              <a:t>All Products will be displayed on front end of site category wise, and when customer click on any product it displays detailed page of the product.</a:t>
            </a:r>
          </a:p>
        </p:txBody>
      </p:sp>
    </p:spTree>
    <p:extLst>
      <p:ext uri="{BB962C8B-B14F-4D97-AF65-F5344CB8AC3E}">
        <p14:creationId xmlns:p14="http://schemas.microsoft.com/office/powerpoint/2010/main" val="191249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202919" y="2478405"/>
            <a:ext cx="9784080" cy="4208145"/>
          </a:xfrm>
        </p:spPr>
        <p:txBody>
          <a:bodyPr/>
          <a:lstStyle/>
          <a:p>
            <a:r>
              <a:rPr lang="en-US" dirty="0"/>
              <a:t>Featured products on the shop page.</a:t>
            </a:r>
          </a:p>
          <a:p>
            <a:r>
              <a:rPr lang="en-US" dirty="0"/>
              <a:t>Set products as “active” or “inactive”.</a:t>
            </a:r>
          </a:p>
          <a:p>
            <a:r>
              <a:rPr lang="en-US" dirty="0"/>
              <a:t>Add products to a single category or multiple categories.</a:t>
            </a:r>
          </a:p>
          <a:p>
            <a:r>
              <a:rPr lang="en-US" dirty="0"/>
              <a:t>Add and manage related products.</a:t>
            </a:r>
          </a:p>
          <a:p>
            <a:r>
              <a:rPr lang="en-US" dirty="0"/>
              <a:t>Manage (approve and delete) product reviews/comments.</a:t>
            </a:r>
          </a:p>
          <a:p>
            <a:r>
              <a:rPr lang="en-US" dirty="0"/>
              <a:t>View customer details and orders.</a:t>
            </a:r>
          </a:p>
          <a:p>
            <a:r>
              <a:rPr lang="en-US" dirty="0"/>
              <a:t>View individual customers product reviews/comments.</a:t>
            </a:r>
          </a:p>
          <a:p>
            <a:r>
              <a:rPr lang="en-US" dirty="0"/>
              <a:t>“Active” or “Inactive” customer accounts.</a:t>
            </a:r>
          </a:p>
        </p:txBody>
      </p:sp>
    </p:spTree>
    <p:extLst>
      <p:ext uri="{BB962C8B-B14F-4D97-AF65-F5344CB8AC3E}">
        <p14:creationId xmlns:p14="http://schemas.microsoft.com/office/powerpoint/2010/main" val="2439789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202919" y="2478405"/>
            <a:ext cx="9784080" cy="4208145"/>
          </a:xfrm>
        </p:spPr>
        <p:txBody>
          <a:bodyPr/>
          <a:lstStyle/>
          <a:p>
            <a:r>
              <a:rPr lang="en-US" dirty="0"/>
              <a:t>Search and sort to easily find orders by specific variables/attributes.</a:t>
            </a:r>
          </a:p>
          <a:p>
            <a:r>
              <a:rPr lang="en-US" dirty="0"/>
              <a:t>Manage and updated order status.</a:t>
            </a:r>
          </a:p>
          <a:p>
            <a:r>
              <a:rPr lang="en-US" dirty="0"/>
              <a:t>View order information and purchase details (products, shipping, addresses, etc.).</a:t>
            </a:r>
          </a:p>
          <a:p>
            <a:r>
              <a:rPr lang="en-US" dirty="0"/>
              <a:t>Administrator can view/search/generate reports of orders and their sales.</a:t>
            </a:r>
          </a:p>
          <a:p>
            <a:r>
              <a:rPr lang="en-US" dirty="0"/>
              <a:t>Date range reports include: top selling product by date range, low inventory by quantity and new customer by date range.</a:t>
            </a:r>
          </a:p>
          <a:p>
            <a:r>
              <a:rPr lang="en-US" dirty="0"/>
              <a:t>There should be a search area on shop page, for search a product by name or category.</a:t>
            </a:r>
          </a:p>
          <a:p>
            <a:r>
              <a:rPr lang="en-US" dirty="0"/>
              <a:t>The system shall allow user to cancel the order.</a:t>
            </a:r>
          </a:p>
        </p:txBody>
      </p:sp>
    </p:spTree>
    <p:extLst>
      <p:ext uri="{BB962C8B-B14F-4D97-AF65-F5344CB8AC3E}">
        <p14:creationId xmlns:p14="http://schemas.microsoft.com/office/powerpoint/2010/main" val="287855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202919" y="2478405"/>
            <a:ext cx="9784080" cy="4208145"/>
          </a:xfrm>
        </p:spPr>
        <p:txBody>
          <a:bodyPr/>
          <a:lstStyle/>
          <a:p>
            <a:r>
              <a:rPr lang="en-US" dirty="0"/>
              <a:t>The system shall allow user to change shipping, payment method.</a:t>
            </a:r>
          </a:p>
          <a:p>
            <a:r>
              <a:rPr lang="en-US" dirty="0"/>
              <a:t>The system shall display both the active and completed order history in the customer profile.</a:t>
            </a:r>
          </a:p>
          <a:p>
            <a:r>
              <a:rPr lang="en-US" dirty="0"/>
              <a:t>The system shall display the detailed information about the selected order.</a:t>
            </a:r>
          </a:p>
          <a:p>
            <a:r>
              <a:rPr lang="en-US" dirty="0"/>
              <a:t>The system shall display available payment methods for payment.</a:t>
            </a:r>
          </a:p>
          <a:p>
            <a:r>
              <a:rPr lang="en-US" dirty="0"/>
              <a:t>The system shall allow user to select the payment method for order.</a:t>
            </a:r>
          </a:p>
          <a:p>
            <a:r>
              <a:rPr lang="en-US" dirty="0"/>
              <a:t>The system shall provide shopping cart during online purchase.</a:t>
            </a:r>
          </a:p>
          <a:p>
            <a:r>
              <a:rPr lang="en-US" dirty="0"/>
              <a:t>User can view products and have option to add to cart products.</a:t>
            </a:r>
          </a:p>
          <a:p>
            <a:r>
              <a:rPr lang="en-US" dirty="0"/>
              <a:t>Users can add/edit/remove products from cart.</a:t>
            </a:r>
          </a:p>
        </p:txBody>
      </p:sp>
    </p:spTree>
    <p:extLst>
      <p:ext uri="{BB962C8B-B14F-4D97-AF65-F5344CB8AC3E}">
        <p14:creationId xmlns:p14="http://schemas.microsoft.com/office/powerpoint/2010/main" val="1166094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 E-Commerce</a:t>
            </a:r>
          </a:p>
        </p:txBody>
      </p:sp>
      <p:sp>
        <p:nvSpPr>
          <p:cNvPr id="3" name="Content Placeholder 2"/>
          <p:cNvSpPr>
            <a:spLocks noGrp="1"/>
          </p:cNvSpPr>
          <p:nvPr>
            <p:ph idx="1"/>
          </p:nvPr>
        </p:nvSpPr>
        <p:spPr>
          <a:xfrm>
            <a:off x="1202919" y="2478405"/>
            <a:ext cx="9784080" cy="4208145"/>
          </a:xfrm>
        </p:spPr>
        <p:txBody>
          <a:bodyPr/>
          <a:lstStyle/>
          <a:p>
            <a:r>
              <a:rPr lang="en-US" dirty="0"/>
              <a:t>When user process their orders for checkout and payment, there should be login and create my account option.</a:t>
            </a:r>
          </a:p>
          <a:p>
            <a:r>
              <a:rPr lang="en-US" dirty="0"/>
              <a:t>User should insert their personal information to create an account.</a:t>
            </a:r>
          </a:p>
          <a:p>
            <a:r>
              <a:rPr lang="en-US" dirty="0"/>
              <a:t>The system shall allow user to update the profile information.</a:t>
            </a:r>
          </a:p>
          <a:p>
            <a:r>
              <a:rPr lang="en-US" dirty="0"/>
              <a:t>Register customer can login with their email and password to compete their order process.</a:t>
            </a:r>
          </a:p>
          <a:p>
            <a:r>
              <a:rPr lang="en-US" dirty="0"/>
              <a:t>System should maintain the purchasing/ordering history for registered users.</a:t>
            </a:r>
          </a:p>
        </p:txBody>
      </p:sp>
    </p:spTree>
    <p:extLst>
      <p:ext uri="{BB962C8B-B14F-4D97-AF65-F5344CB8AC3E}">
        <p14:creationId xmlns:p14="http://schemas.microsoft.com/office/powerpoint/2010/main" val="185761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forum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6891" y="1731963"/>
            <a:ext cx="9028692" cy="4059237"/>
          </a:xfrm>
        </p:spPr>
      </p:pic>
    </p:spTree>
    <p:extLst>
      <p:ext uri="{BB962C8B-B14F-4D97-AF65-F5344CB8AC3E}">
        <p14:creationId xmlns:p14="http://schemas.microsoft.com/office/powerpoint/2010/main" val="133481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forum</a:t>
            </a:r>
          </a:p>
        </p:txBody>
      </p:sp>
      <p:sp>
        <p:nvSpPr>
          <p:cNvPr id="3" name="Content Placeholder 2"/>
          <p:cNvSpPr>
            <a:spLocks noGrp="1"/>
          </p:cNvSpPr>
          <p:nvPr>
            <p:ph idx="1"/>
          </p:nvPr>
        </p:nvSpPr>
        <p:spPr>
          <a:xfrm>
            <a:off x="1202919" y="2169453"/>
            <a:ext cx="9784080" cy="702945"/>
          </a:xfrm>
        </p:spPr>
        <p:txBody>
          <a:bodyPr>
            <a:normAutofit fontScale="92500" lnSpcReduction="10000"/>
          </a:bodyPr>
          <a:lstStyle/>
          <a:p>
            <a:pPr marL="0" indent="0">
              <a:buNone/>
            </a:pPr>
            <a:r>
              <a:rPr lang="en-US" dirty="0"/>
              <a:t>The discussion forum registration must include Image, First &amp; Last Name, E-Mail Address, Telephone, Username, Password, Occupation, Address etc.</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975" y="2872398"/>
            <a:ext cx="7038975" cy="3915019"/>
          </a:xfrm>
          <a:prstGeom prst="rect">
            <a:avLst/>
          </a:prstGeom>
        </p:spPr>
      </p:pic>
    </p:spTree>
    <p:extLst>
      <p:ext uri="{BB962C8B-B14F-4D97-AF65-F5344CB8AC3E}">
        <p14:creationId xmlns:p14="http://schemas.microsoft.com/office/powerpoint/2010/main" val="543667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2919" y="481603"/>
            <a:ext cx="9663556" cy="1389727"/>
          </a:xfrm>
        </p:spPr>
        <p:txBody>
          <a:bodyPr>
            <a:normAutofit/>
          </a:bodyPr>
          <a:lstStyle/>
          <a:p>
            <a:r>
              <a:rPr lang="en-US" dirty="0" err="1">
                <a:solidFill>
                  <a:schemeClr val="tx1"/>
                </a:solidFill>
              </a:rPr>
              <a:t>AgriFarma</a:t>
            </a:r>
            <a:br>
              <a:rPr lang="en-US" dirty="0">
                <a:solidFill>
                  <a:schemeClr val="tx1"/>
                </a:solidFill>
                <a:latin typeface="Trebuchet MS"/>
                <a:ea typeface="Trebuchet MS"/>
                <a:cs typeface="Trebuchet MS"/>
                <a:sym typeface="Trebuchet MS"/>
              </a:rPr>
            </a:br>
            <a:r>
              <a:rPr lang="en-US" sz="2400" b="1" dirty="0">
                <a:solidFill>
                  <a:schemeClr val="tx1"/>
                </a:solidFill>
                <a:latin typeface="Arial" panose="020B0604020202020204" pitchFamily="34" charset="0"/>
                <a:ea typeface="Trebuchet MS"/>
                <a:cs typeface="Arial" panose="020B0604020202020204" pitchFamily="34" charset="0"/>
                <a:sym typeface="Trebuchet MS"/>
              </a:rPr>
              <a:t>Deadlines and Milestones :</a:t>
            </a:r>
            <a:endParaRPr lang="en-US" dirty="0">
              <a:solidFill>
                <a:schemeClr val="tx1"/>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4055499477"/>
              </p:ext>
            </p:extLst>
          </p:nvPr>
        </p:nvGraphicFramePr>
        <p:xfrm>
          <a:off x="1325525" y="1749401"/>
          <a:ext cx="8592574" cy="5108599"/>
        </p:xfrm>
        <a:graphic>
          <a:graphicData uri="http://schemas.openxmlformats.org/drawingml/2006/table">
            <a:tbl>
              <a:tblPr firstRow="1" bandRow="1">
                <a:tableStyleId>{68D230F3-CF80-4859-8CE7-A43EE81993B5}</a:tableStyleId>
              </a:tblPr>
              <a:tblGrid>
                <a:gridCol w="699913">
                  <a:extLst>
                    <a:ext uri="{9D8B030D-6E8A-4147-A177-3AD203B41FA5}">
                      <a16:colId xmlns:a16="http://schemas.microsoft.com/office/drawing/2014/main" val="20000"/>
                    </a:ext>
                  </a:extLst>
                </a:gridCol>
                <a:gridCol w="1980820">
                  <a:extLst>
                    <a:ext uri="{9D8B030D-6E8A-4147-A177-3AD203B41FA5}">
                      <a16:colId xmlns:a16="http://schemas.microsoft.com/office/drawing/2014/main" val="788240481"/>
                    </a:ext>
                  </a:extLst>
                </a:gridCol>
                <a:gridCol w="4316818">
                  <a:extLst>
                    <a:ext uri="{9D8B030D-6E8A-4147-A177-3AD203B41FA5}">
                      <a16:colId xmlns:a16="http://schemas.microsoft.com/office/drawing/2014/main" val="20001"/>
                    </a:ext>
                  </a:extLst>
                </a:gridCol>
                <a:gridCol w="1595023">
                  <a:extLst>
                    <a:ext uri="{9D8B030D-6E8A-4147-A177-3AD203B41FA5}">
                      <a16:colId xmlns:a16="http://schemas.microsoft.com/office/drawing/2014/main" val="20002"/>
                    </a:ext>
                  </a:extLst>
                </a:gridCol>
              </a:tblGrid>
              <a:tr h="5975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dirty="0"/>
                        <a:t>S.NO</a:t>
                      </a:r>
                    </a:p>
                  </a:txBody>
                  <a:tcPr/>
                </a:tc>
                <a:tc>
                  <a:txBody>
                    <a:bodyPr/>
                    <a:lstStyle/>
                    <a:p>
                      <a:pPr algn="ctr"/>
                      <a:endParaRPr lang="en-US" sz="2000" dirty="0"/>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dirty="0"/>
                        <a:t>Project Section</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dirty="0"/>
                        <a:t>Last Date</a:t>
                      </a:r>
                    </a:p>
                  </a:txBody>
                  <a:tcPr/>
                </a:tc>
                <a:extLst>
                  <a:ext uri="{0D108BD9-81ED-4DB2-BD59-A6C34878D82A}">
                    <a16:rowId xmlns:a16="http://schemas.microsoft.com/office/drawing/2014/main" val="10000"/>
                  </a:ext>
                </a:extLst>
              </a:tr>
              <a:tr h="5975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600" dirty="0"/>
                        <a:t>1</a:t>
                      </a:r>
                    </a:p>
                  </a:txBody>
                  <a:tcPr/>
                </a:tc>
                <a:tc>
                  <a:txBody>
                    <a:bodyPr/>
                    <a:lstStyle/>
                    <a:p>
                      <a:pPr algn="ctr"/>
                      <a:r>
                        <a:rPr lang="en-US" sz="2000" dirty="0"/>
                        <a:t>Final Project Kick off &amp; Ideation </a:t>
                      </a:r>
                    </a:p>
                  </a:txBody>
                  <a:tcPr/>
                </a:tc>
                <a:tc>
                  <a:txBody>
                    <a:bodyPr/>
                    <a:lstStyle/>
                    <a:p>
                      <a:pPr algn="ctr"/>
                      <a:r>
                        <a:rPr lang="en-US" sz="2000" dirty="0"/>
                        <a:t>Students choose final project: web app, data analysis tool, automation script, or API service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November 04-5, 2025</a:t>
                      </a:r>
                    </a:p>
                  </a:txBody>
                  <a:tcPr/>
                </a:tc>
                <a:extLst>
                  <a:ext uri="{0D108BD9-81ED-4DB2-BD59-A6C34878D82A}">
                    <a16:rowId xmlns:a16="http://schemas.microsoft.com/office/drawing/2014/main" val="384811478"/>
                  </a:ext>
                </a:extLst>
              </a:tr>
              <a:tr h="507341">
                <a:tc>
                  <a:txBody>
                    <a:bodyPr/>
                    <a:lstStyle/>
                    <a:p>
                      <a:pPr algn="ctr"/>
                      <a:r>
                        <a:rPr lang="en-US" sz="1600" dirty="0"/>
                        <a:t>2</a:t>
                      </a:r>
                    </a:p>
                  </a:txBody>
                  <a:tcPr/>
                </a:tc>
                <a:tc>
                  <a:txBody>
                    <a:bodyPr/>
                    <a:lstStyle/>
                    <a:p>
                      <a:pPr algn="ctr"/>
                      <a:r>
                        <a:rPr lang="en-US" sz="1600" dirty="0"/>
                        <a:t>Project Work Session #1</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1600" dirty="0"/>
                        <a:t>Design &amp; Architecture: Planning project structure, choosing libraries, designing data flow. </a:t>
                      </a:r>
                      <a:endParaRPr lang="en-US" sz="1600" b="0" dirty="0"/>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November 04-5, 2025</a:t>
                      </a:r>
                    </a:p>
                    <a:p>
                      <a:pPr algn="ctr"/>
                      <a:endParaRPr lang="en-US" sz="1600" baseline="0" dirty="0"/>
                    </a:p>
                  </a:txBody>
                  <a:tcPr/>
                </a:tc>
                <a:extLst>
                  <a:ext uri="{0D108BD9-81ED-4DB2-BD59-A6C34878D82A}">
                    <a16:rowId xmlns:a16="http://schemas.microsoft.com/office/drawing/2014/main" val="10001"/>
                  </a:ext>
                </a:extLst>
              </a:tr>
              <a:tr h="50734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600" dirty="0"/>
                        <a:t>3</a:t>
                      </a:r>
                    </a:p>
                  </a:txBody>
                  <a:tcPr/>
                </a:tc>
                <a:tc>
                  <a:txBody>
                    <a:bodyPr/>
                    <a:lstStyle/>
                    <a:p>
                      <a:pPr algn="ctr"/>
                      <a:r>
                        <a:rPr lang="en-US" sz="1600" dirty="0"/>
                        <a:t>Project Work Session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Core Implementation: Developing main functionality and features. </a:t>
                      </a:r>
                      <a:endParaRPr lang="en-US" sz="16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November 6-7 2025</a:t>
                      </a:r>
                    </a:p>
                  </a:txBody>
                  <a:tcPr/>
                </a:tc>
                <a:extLst>
                  <a:ext uri="{0D108BD9-81ED-4DB2-BD59-A6C34878D82A}">
                    <a16:rowId xmlns:a16="http://schemas.microsoft.com/office/drawing/2014/main" val="10002"/>
                  </a:ext>
                </a:extLst>
              </a:tr>
              <a:tr h="55687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600" dirty="0"/>
                        <a:t>4</a:t>
                      </a:r>
                    </a:p>
                  </a:txBody>
                  <a:tcPr/>
                </a:tc>
                <a:tc>
                  <a:txBody>
                    <a:bodyPr/>
                    <a:lstStyle/>
                    <a:p>
                      <a:pPr algn="ctr"/>
                      <a:r>
                        <a:rPr lang="en-US" sz="1600" dirty="0"/>
                        <a:t>Project Work Session #3</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Testing &amp; Debugging: Writing tests, debugging issues, optimizing code. </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November 8-9 , 2025</a:t>
                      </a:r>
                    </a:p>
                  </a:txBody>
                  <a:tcPr/>
                </a:tc>
                <a:extLst>
                  <a:ext uri="{0D108BD9-81ED-4DB2-BD59-A6C34878D82A}">
                    <a16:rowId xmlns:a16="http://schemas.microsoft.com/office/drawing/2014/main" val="10003"/>
                  </a:ext>
                </a:extLst>
              </a:tr>
              <a:tr h="39685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600" dirty="0"/>
                        <a:t>5</a:t>
                      </a:r>
                    </a:p>
                  </a:txBody>
                  <a:tcPr/>
                </a:tc>
                <a:tc>
                  <a:txBody>
                    <a:bodyPr/>
                    <a:lstStyle/>
                    <a:p>
                      <a:pPr algn="ctr"/>
                      <a:r>
                        <a:rPr lang="en-US" sz="1600" dirty="0"/>
                        <a:t>Project Work Session #4</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Documentation &amp; Polish: Writing documentation, adding comments, final touches. </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November 10-12, 2025</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sz="1600" b="0" dirty="0"/>
                    </a:p>
                  </a:txBody>
                  <a:tcPr/>
                </a:tc>
                <a:extLst>
                  <a:ext uri="{0D108BD9-81ED-4DB2-BD59-A6C34878D82A}">
                    <a16:rowId xmlns:a16="http://schemas.microsoft.com/office/drawing/2014/main" val="10004"/>
                  </a:ext>
                </a:extLst>
              </a:tr>
              <a:tr h="597559">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sz="1600" dirty="0"/>
                    </a:p>
                  </a:txBody>
                  <a:tcPr/>
                </a:tc>
                <a:tc>
                  <a:txBody>
                    <a:bodyPr/>
                    <a:lstStyle/>
                    <a:p>
                      <a:pPr algn="ctr"/>
                      <a:r>
                        <a:rPr lang="en-US" sz="1600" dirty="0"/>
                        <a:t>Course Wrap-up, Certification</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Advanced Python topics, career paths, continuing education resources, Q&amp;A. </a:t>
                      </a:r>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November 13 </a:t>
                      </a:r>
                      <a:r>
                        <a:rPr lang="en-US" sz="1600" dirty="0"/>
                        <a:t>, 2025</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612185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385</TotalTime>
  <Words>1213</Words>
  <Application>Microsoft Office PowerPoint</Application>
  <PresentationFormat>Widescreen</PresentationFormat>
  <Paragraphs>103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Calisto MT</vt:lpstr>
      <vt:lpstr>Trebuchet MS</vt:lpstr>
      <vt:lpstr>Wingdings 2</vt:lpstr>
      <vt:lpstr>Slate</vt:lpstr>
      <vt:lpstr>AgriFarma (FINAL PROJECT)</vt:lpstr>
      <vt:lpstr>Agrifarma</vt:lpstr>
      <vt:lpstr>Requirements - User Profile</vt:lpstr>
      <vt:lpstr>Requirements - Discussion Forum</vt:lpstr>
      <vt:lpstr>Requirements - Knowledge Base</vt:lpstr>
      <vt:lpstr>Requirements - Consultancy Services</vt:lpstr>
      <vt:lpstr>Requirements - E-Commerce</vt:lpstr>
      <vt:lpstr>Requirements - E-Commerce</vt:lpstr>
      <vt:lpstr>Requirements - E-Commerce</vt:lpstr>
      <vt:lpstr>Requirements - E-Commerce</vt:lpstr>
      <vt:lpstr>Requirements - E-Commerce</vt:lpstr>
      <vt:lpstr>Requirements - E-Commerce</vt:lpstr>
      <vt:lpstr>discussion forum</vt:lpstr>
      <vt:lpstr>discussion forum</vt:lpstr>
      <vt:lpstr>AgriFarma Deadlines and Milestones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Samad Nizamani</dc:creator>
  <cp:lastModifiedBy>Abdul Samad Nizamani</cp:lastModifiedBy>
  <cp:revision>5</cp:revision>
  <dcterms:created xsi:type="dcterms:W3CDTF">2025-11-03T06:28:31Z</dcterms:created>
  <dcterms:modified xsi:type="dcterms:W3CDTF">2025-11-04T12:06:38Z</dcterms:modified>
</cp:coreProperties>
</file>